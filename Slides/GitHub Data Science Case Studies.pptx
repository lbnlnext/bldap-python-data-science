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Bebas Neue"/>
      <p:regular r:id="rId17"/>
    </p:embeddedFont>
    <p:embeddedFont>
      <p:font typeface="Lora"/>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ora-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ora-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BebasNeue-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ora-bold.fntdata"/><Relationship Id="rId6" Type="http://schemas.openxmlformats.org/officeDocument/2006/relationships/slide" Target="slides/slide1.xml"/><Relationship Id="rId18" Type="http://schemas.openxmlformats.org/officeDocument/2006/relationships/font" Target="fonts/Lor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John_Snow" TargetMode="External"/><Relationship Id="rId3" Type="http://schemas.openxmlformats.org/officeDocument/2006/relationships/hyperlink" Target="https://www.cs.cornell.edu/courses/cs1380/2018sp/textbook/chapters/02/1/observation-and-visualization-john-snow-and-the-broad-street-pump.html"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ixabay.com/vectors/earth-world-planet-globe-global-3107835/"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6d0f37a3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6d0f37a3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6d0f37a3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6d0f37a3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36d0f37a3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36d0f37a3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36d0f37a3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36d0f37a3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6d0f37a3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6d0f37a3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36d0f37a3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36d0f37a3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36d0f37a30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36d0f37a30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credits</a:t>
            </a:r>
            <a:endParaRPr/>
          </a:p>
          <a:p>
            <a:pPr indent="0" lvl="0" marL="0" rtl="0" algn="l">
              <a:spcBef>
                <a:spcPts val="0"/>
              </a:spcBef>
              <a:spcAft>
                <a:spcPts val="0"/>
              </a:spcAft>
              <a:buNone/>
            </a:pPr>
            <a:r>
              <a:rPr lang="en" u="sng">
                <a:solidFill>
                  <a:schemeClr val="hlink"/>
                </a:solidFill>
                <a:hlinkClick r:id="rId2"/>
              </a:rPr>
              <a:t>https://en.wikipedia.org/wiki/John_Snow</a:t>
            </a:r>
            <a:endParaRPr/>
          </a:p>
          <a:p>
            <a:pPr indent="0" lvl="0" marL="0" rtl="0" algn="l">
              <a:spcBef>
                <a:spcPts val="0"/>
              </a:spcBef>
              <a:spcAft>
                <a:spcPts val="0"/>
              </a:spcAft>
              <a:buNone/>
            </a:pPr>
            <a:r>
              <a:rPr lang="en" u="sng">
                <a:solidFill>
                  <a:schemeClr val="hlink"/>
                </a:solidFill>
                <a:hlinkClick r:id="rId3"/>
              </a:rPr>
              <a:t>https://www.cs.cornell.edu/courses/cs1380/2018sp/textbook/chapters/02/1/observation-and-visualization-john-snow-and-the-broad-street-pump.html</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36d0f37a30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36d0f37a3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36d0f37a3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36d0f37a3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a:t>
            </a:r>
            <a:r>
              <a:rPr lang="en" u="sng">
                <a:solidFill>
                  <a:schemeClr val="hlink"/>
                </a:solidFill>
                <a:hlinkClick r:id="rId2"/>
              </a:rPr>
              <a:t>https://pixabay.com/vectors/earth-world-planet-globe-global-3107835/</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36d0f37a3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36d0f37a3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73175"/>
            <a:ext cx="8520600" cy="2052600"/>
          </a:xfrm>
          <a:prstGeom prst="rect">
            <a:avLst/>
          </a:prstGeom>
        </p:spPr>
        <p:txBody>
          <a:bodyPr anchorCtr="0" anchor="b" bIns="91425" lIns="91425" spcFirstLastPara="1" rIns="91425" wrap="square" tIns="91425">
            <a:noAutofit/>
          </a:bodyPr>
          <a:lstStyle>
            <a:lvl1pPr lvl="0">
              <a:spcBef>
                <a:spcPts val="0"/>
              </a:spcBef>
              <a:spcAft>
                <a:spcPts val="0"/>
              </a:spcAft>
              <a:buSzPts val="5200"/>
              <a:buFont typeface="Lora"/>
              <a:buNone/>
              <a:defRPr sz="5200">
                <a:latin typeface="Lora"/>
                <a:ea typeface="Lora"/>
                <a:cs typeface="Lora"/>
                <a:sym typeface="Lora"/>
              </a:defRPr>
            </a:lvl1pPr>
            <a:lvl2pPr lvl="1" algn="ctr">
              <a:spcBef>
                <a:spcPts val="0"/>
              </a:spcBef>
              <a:spcAft>
                <a:spcPts val="0"/>
              </a:spcAft>
              <a:buSzPts val="5200"/>
              <a:buFont typeface="Lora"/>
              <a:buNone/>
              <a:defRPr sz="5200">
                <a:latin typeface="Lora"/>
                <a:ea typeface="Lora"/>
                <a:cs typeface="Lora"/>
                <a:sym typeface="Lora"/>
              </a:defRPr>
            </a:lvl2pPr>
            <a:lvl3pPr lvl="2" algn="ctr">
              <a:spcBef>
                <a:spcPts val="0"/>
              </a:spcBef>
              <a:spcAft>
                <a:spcPts val="0"/>
              </a:spcAft>
              <a:buSzPts val="5200"/>
              <a:buFont typeface="Lora"/>
              <a:buNone/>
              <a:defRPr sz="5200">
                <a:latin typeface="Lora"/>
                <a:ea typeface="Lora"/>
                <a:cs typeface="Lora"/>
                <a:sym typeface="Lora"/>
              </a:defRPr>
            </a:lvl3pPr>
            <a:lvl4pPr lvl="3" algn="ctr">
              <a:spcBef>
                <a:spcPts val="0"/>
              </a:spcBef>
              <a:spcAft>
                <a:spcPts val="0"/>
              </a:spcAft>
              <a:buSzPts val="5200"/>
              <a:buFont typeface="Lora"/>
              <a:buNone/>
              <a:defRPr sz="5200">
                <a:latin typeface="Lora"/>
                <a:ea typeface="Lora"/>
                <a:cs typeface="Lora"/>
                <a:sym typeface="Lora"/>
              </a:defRPr>
            </a:lvl4pPr>
            <a:lvl5pPr lvl="4" algn="ctr">
              <a:spcBef>
                <a:spcPts val="0"/>
              </a:spcBef>
              <a:spcAft>
                <a:spcPts val="0"/>
              </a:spcAft>
              <a:buSzPts val="5200"/>
              <a:buFont typeface="Lora"/>
              <a:buNone/>
              <a:defRPr sz="5200">
                <a:latin typeface="Lora"/>
                <a:ea typeface="Lora"/>
                <a:cs typeface="Lora"/>
                <a:sym typeface="Lora"/>
              </a:defRPr>
            </a:lvl5pPr>
            <a:lvl6pPr lvl="5" algn="ctr">
              <a:spcBef>
                <a:spcPts val="0"/>
              </a:spcBef>
              <a:spcAft>
                <a:spcPts val="0"/>
              </a:spcAft>
              <a:buSzPts val="5200"/>
              <a:buFont typeface="Lora"/>
              <a:buNone/>
              <a:defRPr sz="5200">
                <a:latin typeface="Lora"/>
                <a:ea typeface="Lora"/>
                <a:cs typeface="Lora"/>
                <a:sym typeface="Lora"/>
              </a:defRPr>
            </a:lvl6pPr>
            <a:lvl7pPr lvl="6" algn="ctr">
              <a:spcBef>
                <a:spcPts val="0"/>
              </a:spcBef>
              <a:spcAft>
                <a:spcPts val="0"/>
              </a:spcAft>
              <a:buSzPts val="5200"/>
              <a:buFont typeface="Lora"/>
              <a:buNone/>
              <a:defRPr sz="5200">
                <a:latin typeface="Lora"/>
                <a:ea typeface="Lora"/>
                <a:cs typeface="Lora"/>
                <a:sym typeface="Lora"/>
              </a:defRPr>
            </a:lvl7pPr>
            <a:lvl8pPr lvl="7" algn="ctr">
              <a:spcBef>
                <a:spcPts val="0"/>
              </a:spcBef>
              <a:spcAft>
                <a:spcPts val="0"/>
              </a:spcAft>
              <a:buSzPts val="5200"/>
              <a:buFont typeface="Lora"/>
              <a:buNone/>
              <a:defRPr sz="5200">
                <a:latin typeface="Lora"/>
                <a:ea typeface="Lora"/>
                <a:cs typeface="Lora"/>
                <a:sym typeface="Lora"/>
              </a:defRPr>
            </a:lvl8pPr>
            <a:lvl9pPr lvl="8" algn="ctr">
              <a:spcBef>
                <a:spcPts val="0"/>
              </a:spcBef>
              <a:spcAft>
                <a:spcPts val="0"/>
              </a:spcAft>
              <a:buSzPts val="5200"/>
              <a:buFont typeface="Lora"/>
              <a:buNone/>
              <a:defRPr sz="5200">
                <a:latin typeface="Lora"/>
                <a:ea typeface="Lora"/>
                <a:cs typeface="Lora"/>
                <a:sym typeface="Lora"/>
              </a:defRPr>
            </a:lvl9pPr>
          </a:lstStyle>
          <a:p/>
        </p:txBody>
      </p:sp>
      <p:sp>
        <p:nvSpPr>
          <p:cNvPr id="11" name="Google Shape;11;p2"/>
          <p:cNvSpPr txBox="1"/>
          <p:nvPr>
            <p:ph idx="1" type="subTitle"/>
          </p:nvPr>
        </p:nvSpPr>
        <p:spPr>
          <a:xfrm>
            <a:off x="311700" y="758650"/>
            <a:ext cx="8520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1pPr>
            <a:lvl2pPr lvl="1">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2pPr>
            <a:lvl3pPr lvl="2">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3pPr>
            <a:lvl4pPr lvl="3">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4pPr>
            <a:lvl5pPr lvl="4">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5pPr>
            <a:lvl6pPr lvl="5">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6pPr>
            <a:lvl7pPr lvl="6">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7pPr>
            <a:lvl8pPr lvl="7">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8pPr>
            <a:lvl9pPr lvl="8">
              <a:lnSpc>
                <a:spcPct val="100000"/>
              </a:lnSpc>
              <a:spcBef>
                <a:spcPts val="0"/>
              </a:spcBef>
              <a:spcAft>
                <a:spcPts val="0"/>
              </a:spcAft>
              <a:buClr>
                <a:srgbClr val="351C75"/>
              </a:buClr>
              <a:buSzPts val="2800"/>
              <a:buFont typeface="Bebas Neue"/>
              <a:buNone/>
              <a:defRPr sz="2800">
                <a:solidFill>
                  <a:srgbClr val="351C75"/>
                </a:solidFill>
                <a:latin typeface="Bebas Neue"/>
                <a:ea typeface="Bebas Neue"/>
                <a:cs typeface="Bebas Neue"/>
                <a:sym typeface="Bebas Neue"/>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D9D2E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Font typeface="Lora"/>
              <a:buNone/>
              <a:defRPr sz="2800">
                <a:solidFill>
                  <a:schemeClr val="dk1"/>
                </a:solidFill>
                <a:latin typeface="Lora"/>
                <a:ea typeface="Lora"/>
                <a:cs typeface="Lora"/>
                <a:sym typeface="Lora"/>
              </a:defRPr>
            </a:lvl2pPr>
            <a:lvl3pPr lvl="2">
              <a:spcBef>
                <a:spcPts val="0"/>
              </a:spcBef>
              <a:spcAft>
                <a:spcPts val="0"/>
              </a:spcAft>
              <a:buClr>
                <a:schemeClr val="dk1"/>
              </a:buClr>
              <a:buSzPts val="2800"/>
              <a:buFont typeface="Lora"/>
              <a:buNone/>
              <a:defRPr sz="2800">
                <a:solidFill>
                  <a:schemeClr val="dk1"/>
                </a:solidFill>
                <a:latin typeface="Lora"/>
                <a:ea typeface="Lora"/>
                <a:cs typeface="Lora"/>
                <a:sym typeface="Lora"/>
              </a:defRPr>
            </a:lvl3pPr>
            <a:lvl4pPr lvl="3">
              <a:spcBef>
                <a:spcPts val="0"/>
              </a:spcBef>
              <a:spcAft>
                <a:spcPts val="0"/>
              </a:spcAft>
              <a:buClr>
                <a:schemeClr val="dk1"/>
              </a:buClr>
              <a:buSzPts val="2800"/>
              <a:buFont typeface="Lora"/>
              <a:buNone/>
              <a:defRPr sz="2800">
                <a:solidFill>
                  <a:schemeClr val="dk1"/>
                </a:solidFill>
                <a:latin typeface="Lora"/>
                <a:ea typeface="Lora"/>
                <a:cs typeface="Lora"/>
                <a:sym typeface="Lora"/>
              </a:defRPr>
            </a:lvl4pPr>
            <a:lvl5pPr lvl="4">
              <a:spcBef>
                <a:spcPts val="0"/>
              </a:spcBef>
              <a:spcAft>
                <a:spcPts val="0"/>
              </a:spcAft>
              <a:buClr>
                <a:schemeClr val="dk1"/>
              </a:buClr>
              <a:buSzPts val="2800"/>
              <a:buFont typeface="Lora"/>
              <a:buNone/>
              <a:defRPr sz="2800">
                <a:solidFill>
                  <a:schemeClr val="dk1"/>
                </a:solidFill>
                <a:latin typeface="Lora"/>
                <a:ea typeface="Lora"/>
                <a:cs typeface="Lora"/>
                <a:sym typeface="Lora"/>
              </a:defRPr>
            </a:lvl5pPr>
            <a:lvl6pPr lvl="5">
              <a:spcBef>
                <a:spcPts val="0"/>
              </a:spcBef>
              <a:spcAft>
                <a:spcPts val="0"/>
              </a:spcAft>
              <a:buClr>
                <a:schemeClr val="dk1"/>
              </a:buClr>
              <a:buSzPts val="2800"/>
              <a:buFont typeface="Lora"/>
              <a:buNone/>
              <a:defRPr sz="2800">
                <a:solidFill>
                  <a:schemeClr val="dk1"/>
                </a:solidFill>
                <a:latin typeface="Lora"/>
                <a:ea typeface="Lora"/>
                <a:cs typeface="Lora"/>
                <a:sym typeface="Lora"/>
              </a:defRPr>
            </a:lvl6pPr>
            <a:lvl7pPr lvl="6">
              <a:spcBef>
                <a:spcPts val="0"/>
              </a:spcBef>
              <a:spcAft>
                <a:spcPts val="0"/>
              </a:spcAft>
              <a:buClr>
                <a:schemeClr val="dk1"/>
              </a:buClr>
              <a:buSzPts val="2800"/>
              <a:buFont typeface="Lora"/>
              <a:buNone/>
              <a:defRPr sz="2800">
                <a:solidFill>
                  <a:schemeClr val="dk1"/>
                </a:solidFill>
                <a:latin typeface="Lora"/>
                <a:ea typeface="Lora"/>
                <a:cs typeface="Lora"/>
                <a:sym typeface="Lora"/>
              </a:defRPr>
            </a:lvl7pPr>
            <a:lvl8pPr lvl="7">
              <a:spcBef>
                <a:spcPts val="0"/>
              </a:spcBef>
              <a:spcAft>
                <a:spcPts val="0"/>
              </a:spcAft>
              <a:buClr>
                <a:schemeClr val="dk1"/>
              </a:buClr>
              <a:buSzPts val="2800"/>
              <a:buFont typeface="Lora"/>
              <a:buNone/>
              <a:defRPr sz="2800">
                <a:solidFill>
                  <a:schemeClr val="dk1"/>
                </a:solidFill>
                <a:latin typeface="Lora"/>
                <a:ea typeface="Lora"/>
                <a:cs typeface="Lora"/>
                <a:sym typeface="Lora"/>
              </a:defRPr>
            </a:lvl8pPr>
            <a:lvl9pPr lvl="8">
              <a:spcBef>
                <a:spcPts val="0"/>
              </a:spcBef>
              <a:spcAft>
                <a:spcPts val="0"/>
              </a:spcAft>
              <a:buClr>
                <a:schemeClr val="dk1"/>
              </a:buClr>
              <a:buSzPts val="2800"/>
              <a:buFont typeface="Lora"/>
              <a:buNone/>
              <a:defRPr sz="2800">
                <a:solidFill>
                  <a:schemeClr val="dk1"/>
                </a:solidFill>
                <a:latin typeface="Lora"/>
                <a:ea typeface="Lora"/>
                <a:cs typeface="Lora"/>
                <a:sym typeface="Lor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hyperlink" Target="https://news.mit.edu/2025/basketball-analytics-investment-nba-wins-and-other-successes-0325" TargetMode="External"/><Relationship Id="rId5" Type="http://schemas.openxmlformats.org/officeDocument/2006/relationships/hyperlink" Target="https://cdss.berkeley.edu/dsus/news/uc-berkeley-alum-transforms-nba-strategy-data-science" TargetMode="External"/><Relationship Id="rId6"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hyperlink" Target="http://www.youtube.com/watch?v=1m37B2MJKu8" TargetMode="Externa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hyperlink" Target="https://science.nasa.gov/earth/explore/wildfires-and-climate-chang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labelbox.com/customers/intuitive-surgical-customer-story/" TargetMode="Externa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www.youtube.com/watch?v=NEgUaGHYxNg" TargetMode="Externa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hyperlink" Target="http://www.youtube.com/watch?v=D2DzDDyKjR4" TargetMode="External"/><Relationship Id="rId4" Type="http://schemas.openxmlformats.org/officeDocument/2006/relationships/image" Target="../media/image7.jpg"/><Relationship Id="rId5" Type="http://schemas.openxmlformats.org/officeDocument/2006/relationships/hyperlink" Target="https://inferentialthinking.com/chapters/02/1/observation-and-visualization-john-snow-and-the-broad-street-pump.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dss.berkeley.edu/discovery/projects"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731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Science Case Studies!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ctrTitle"/>
          </p:nvPr>
        </p:nvSpPr>
        <p:spPr>
          <a:xfrm>
            <a:off x="311708" y="563550"/>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Science and the NBA </a:t>
            </a:r>
            <a:endParaRPr/>
          </a:p>
        </p:txBody>
      </p:sp>
      <p:sp>
        <p:nvSpPr>
          <p:cNvPr id="60" name="Google Shape;60;p14"/>
          <p:cNvSpPr txBox="1"/>
          <p:nvPr>
            <p:ph idx="1" type="subTitle"/>
          </p:nvPr>
        </p:nvSpPr>
        <p:spPr>
          <a:xfrm>
            <a:off x="311700" y="758650"/>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Science and Success in Sports</a:t>
            </a:r>
            <a:endParaRPr/>
          </a:p>
        </p:txBody>
      </p:sp>
      <p:pic>
        <p:nvPicPr>
          <p:cNvPr descr="Basketball ball isolated (Provided by Getty Images)" id="61" name="Google Shape;61;p14"/>
          <p:cNvPicPr preferRelativeResize="0"/>
          <p:nvPr/>
        </p:nvPicPr>
        <p:blipFill>
          <a:blip r:embed="rId3">
            <a:alphaModFix/>
          </a:blip>
          <a:stretch>
            <a:fillRect/>
          </a:stretch>
        </p:blipFill>
        <p:spPr>
          <a:xfrm>
            <a:off x="84075" y="3443925"/>
            <a:ext cx="1512776" cy="1512776"/>
          </a:xfrm>
          <a:prstGeom prst="rect">
            <a:avLst/>
          </a:prstGeom>
          <a:noFill/>
          <a:ln>
            <a:noFill/>
          </a:ln>
        </p:spPr>
      </p:pic>
      <p:sp>
        <p:nvSpPr>
          <p:cNvPr id="62" name="Google Shape;62;p14"/>
          <p:cNvSpPr txBox="1"/>
          <p:nvPr/>
        </p:nvSpPr>
        <p:spPr>
          <a:xfrm>
            <a:off x="1875563" y="3337725"/>
            <a:ext cx="3269400" cy="7941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n" sz="12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Basketball analytics investment is key to NBA wins and other successes | MIT News</a:t>
            </a:r>
            <a:r>
              <a:rPr lang="en" sz="1200">
                <a:solidFill>
                  <a:schemeClr val="dk1"/>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p:txBody>
      </p:sp>
      <p:sp>
        <p:nvSpPr>
          <p:cNvPr id="63" name="Google Shape;63;p14"/>
          <p:cNvSpPr txBox="1"/>
          <p:nvPr/>
        </p:nvSpPr>
        <p:spPr>
          <a:xfrm>
            <a:off x="5423700" y="3380500"/>
            <a:ext cx="3000000" cy="581700"/>
          </a:xfrm>
          <a:prstGeom prst="rect">
            <a:avLst/>
          </a:prstGeom>
          <a:noFill/>
          <a:ln>
            <a:noFill/>
          </a:ln>
        </p:spPr>
        <p:txBody>
          <a:bodyPr anchorCtr="0" anchor="t" bIns="91425" lIns="91425" spcFirstLastPara="1" rIns="91425" wrap="square" tIns="91425">
            <a:spAutoFit/>
          </a:bodyPr>
          <a:lstStyle/>
          <a:p>
            <a:pPr indent="0" lvl="0" marL="457200" rtl="0" algn="ctr">
              <a:lnSpc>
                <a:spcPct val="115000"/>
              </a:lnSpc>
              <a:spcBef>
                <a:spcPts val="0"/>
              </a:spcBef>
              <a:spcAft>
                <a:spcPts val="0"/>
              </a:spcAft>
              <a:buNone/>
            </a:pPr>
            <a:r>
              <a:rPr lang="en" sz="12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UC Berkeley alum transforms NBA strategy with data science</a:t>
            </a:r>
            <a:endParaRPr>
              <a:solidFill>
                <a:schemeClr val="dk1"/>
              </a:solidFill>
            </a:endParaRPr>
          </a:p>
        </p:txBody>
      </p:sp>
      <p:pic>
        <p:nvPicPr>
          <p:cNvPr descr="Basketball on rim of basketball hoop (Provided by Getty Images)" id="64" name="Google Shape;64;p14"/>
          <p:cNvPicPr preferRelativeResize="0"/>
          <p:nvPr/>
        </p:nvPicPr>
        <p:blipFill>
          <a:blip r:embed="rId6">
            <a:alphaModFix/>
          </a:blip>
          <a:stretch>
            <a:fillRect/>
          </a:stretch>
        </p:blipFill>
        <p:spPr>
          <a:xfrm>
            <a:off x="7544000" y="171625"/>
            <a:ext cx="1060727" cy="15127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Screenshot 2025-06-12 at 14.27.53.png"/>
          <p:cNvPicPr preferRelativeResize="0"/>
          <p:nvPr/>
        </p:nvPicPr>
        <p:blipFill rotWithShape="1">
          <a:blip r:embed="rId3">
            <a:alphaModFix/>
          </a:blip>
          <a:srcRect b="0" l="7507" r="26699" t="0"/>
          <a:stretch/>
        </p:blipFill>
        <p:spPr>
          <a:xfrm>
            <a:off x="4615975" y="0"/>
            <a:ext cx="4528024" cy="5143500"/>
          </a:xfrm>
          <a:prstGeom prst="rect">
            <a:avLst/>
          </a:prstGeom>
          <a:noFill/>
          <a:ln>
            <a:noFill/>
          </a:ln>
        </p:spPr>
      </p:pic>
      <p:sp>
        <p:nvSpPr>
          <p:cNvPr id="70" name="Google Shape;70;p15"/>
          <p:cNvSpPr txBox="1"/>
          <p:nvPr>
            <p:ph type="ctrTitle"/>
          </p:nvPr>
        </p:nvSpPr>
        <p:spPr>
          <a:xfrm>
            <a:off x="311701" y="1430375"/>
            <a:ext cx="41289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NASA and Climate Change Data</a:t>
            </a:r>
            <a:endParaRPr sz="4800"/>
          </a:p>
        </p:txBody>
      </p:sp>
      <p:sp>
        <p:nvSpPr>
          <p:cNvPr id="71" name="Google Shape;71;p15"/>
          <p:cNvSpPr txBox="1"/>
          <p:nvPr>
            <p:ph idx="1" type="subTitle"/>
          </p:nvPr>
        </p:nvSpPr>
        <p:spPr>
          <a:xfrm>
            <a:off x="311700" y="911050"/>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Environmental Science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Are wildfires getting worse? Unfortunately, yes. &#10;&#10;Changes in our climate, along with other factors, have led to wildfires increasing in intensity, severity, size and duration. NASA climate and wildfire expert Liz Hoy explains how and why NASA studies these events from the ground, air, and space to better understand the impacts they have on both a local and global scale. https://www.nasa.gov/fires&#10;&#10;Producers: Jessica Wilde, Scott Bednar&#10;Editor: Daniel Salazar &#10;&#10;Credit: NASA" id="76" name="Google Shape;76;p16" title="Are Wildfires Getting Worse? – We Asked a NASA Scientist">
            <a:hlinkClick r:id="rId3"/>
          </p:cNvPr>
          <p:cNvPicPr preferRelativeResize="0"/>
          <p:nvPr/>
        </p:nvPicPr>
        <p:blipFill>
          <a:blip r:embed="rId4">
            <a:alphaModFix/>
          </a:blip>
          <a:stretch>
            <a:fillRect/>
          </a:stretch>
        </p:blipFill>
        <p:spPr>
          <a:xfrm>
            <a:off x="325963" y="183350"/>
            <a:ext cx="8492075" cy="4776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1106125"/>
            <a:ext cx="85206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How can data science be used to understand/address this problem?</a:t>
            </a:r>
            <a:endParaRPr sz="4800"/>
          </a:p>
        </p:txBody>
      </p:sp>
      <p:sp>
        <p:nvSpPr>
          <p:cNvPr id="82" name="Google Shape;82;p17"/>
          <p:cNvSpPr txBox="1"/>
          <p:nvPr>
            <p:ph idx="1" type="body"/>
          </p:nvPr>
        </p:nvSpPr>
        <p:spPr>
          <a:xfrm>
            <a:off x="311700" y="3152225"/>
            <a:ext cx="8520600" cy="1300800"/>
          </a:xfrm>
          <a:prstGeom prst="rect">
            <a:avLst/>
          </a:prstGeom>
        </p:spPr>
        <p:txBody>
          <a:bodyPr anchorCtr="0" anchor="ctr" bIns="91425" lIns="91425" spcFirstLastPara="1" rIns="91425" wrap="square" tIns="91425">
            <a:noAutofit/>
          </a:bodyPr>
          <a:lstStyle/>
          <a:p>
            <a:pPr indent="0" lvl="0" marL="0" rtl="0" algn="ctr">
              <a:spcBef>
                <a:spcPts val="0"/>
              </a:spcBef>
              <a:spcAft>
                <a:spcPts val="1200"/>
              </a:spcAft>
              <a:buNone/>
            </a:pPr>
            <a:r>
              <a:rPr lang="en" u="sng">
                <a:solidFill>
                  <a:schemeClr val="hlink"/>
                </a:solidFill>
                <a:hlinkClick r:id="rId3"/>
              </a:rPr>
              <a:t>https://science.nasa.gov/earth/explore/wildfires-and-climate-change/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973175"/>
            <a:ext cx="8520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AI and Medicine </a:t>
            </a:r>
            <a:endParaRPr/>
          </a:p>
        </p:txBody>
      </p:sp>
      <p:sp>
        <p:nvSpPr>
          <p:cNvPr id="88" name="Google Shape;88;p18"/>
          <p:cNvSpPr txBox="1"/>
          <p:nvPr>
            <p:ph idx="1" type="subTitle"/>
          </p:nvPr>
        </p:nvSpPr>
        <p:spPr>
          <a:xfrm>
            <a:off x="311700" y="716050"/>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AI can revolutionize the Medical Field </a:t>
            </a:r>
            <a:endParaRPr/>
          </a:p>
        </p:txBody>
      </p:sp>
      <p:sp>
        <p:nvSpPr>
          <p:cNvPr id="89" name="Google Shape;89;p18"/>
          <p:cNvSpPr txBox="1"/>
          <p:nvPr/>
        </p:nvSpPr>
        <p:spPr>
          <a:xfrm>
            <a:off x="418200" y="3769750"/>
            <a:ext cx="31812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u="sng">
                <a:solidFill>
                  <a:schemeClr val="hlink"/>
                </a:solidFill>
                <a:hlinkClick r:id="rId3"/>
              </a:rPr>
              <a:t>How Intuitive Surgical advances robotic-assisted surgery with machine learning</a:t>
            </a:r>
            <a:r>
              <a:rPr lang="en"/>
              <a:t> </a:t>
            </a:r>
            <a:endParaRPr/>
          </a:p>
        </p:txBody>
      </p:sp>
      <p:pic>
        <p:nvPicPr>
          <p:cNvPr id="90" name="Google Shape;90;p18"/>
          <p:cNvPicPr preferRelativeResize="0"/>
          <p:nvPr/>
        </p:nvPicPr>
        <p:blipFill>
          <a:blip r:embed="rId4">
            <a:alphaModFix/>
          </a:blip>
          <a:stretch>
            <a:fillRect/>
          </a:stretch>
        </p:blipFill>
        <p:spPr>
          <a:xfrm>
            <a:off x="6047550" y="1238250"/>
            <a:ext cx="2571750" cy="2971800"/>
          </a:xfrm>
          <a:prstGeom prst="rect">
            <a:avLst/>
          </a:prstGeom>
          <a:noFill/>
          <a:ln>
            <a:noFill/>
          </a:ln>
        </p:spPr>
      </p:pic>
      <p:cxnSp>
        <p:nvCxnSpPr>
          <p:cNvPr id="91" name="Google Shape;91;p18"/>
          <p:cNvCxnSpPr>
            <a:endCxn id="89" idx="3"/>
          </p:cNvCxnSpPr>
          <p:nvPr/>
        </p:nvCxnSpPr>
        <p:spPr>
          <a:xfrm flipH="1">
            <a:off x="3599400" y="4065700"/>
            <a:ext cx="754500" cy="119700"/>
          </a:xfrm>
          <a:prstGeom prst="straightConnector1">
            <a:avLst/>
          </a:prstGeom>
          <a:noFill/>
          <a:ln cap="flat" cmpd="sng" w="9525">
            <a:solidFill>
              <a:schemeClr val="dk2"/>
            </a:solidFill>
            <a:prstDash val="solid"/>
            <a:round/>
            <a:headEnd len="med" w="med" type="none"/>
            <a:tailEnd len="med" w="med" type="triangle"/>
          </a:ln>
        </p:spPr>
      </p:cxnSp>
      <p:sp>
        <p:nvSpPr>
          <p:cNvPr id="92" name="Google Shape;92;p18"/>
          <p:cNvSpPr txBox="1"/>
          <p:nvPr/>
        </p:nvSpPr>
        <p:spPr>
          <a:xfrm>
            <a:off x="4300525" y="3844050"/>
            <a:ext cx="1664700" cy="28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Lora"/>
                <a:ea typeface="Lora"/>
                <a:cs typeface="Lora"/>
                <a:sym typeface="Lora"/>
              </a:rPr>
              <a:t>Read </a:t>
            </a:r>
            <a:r>
              <a:rPr lang="en">
                <a:solidFill>
                  <a:schemeClr val="dk2"/>
                </a:solidFill>
                <a:latin typeface="Lora"/>
                <a:ea typeface="Lora"/>
                <a:cs typeface="Lora"/>
                <a:sym typeface="Lora"/>
              </a:rPr>
              <a:t>this</a:t>
            </a:r>
            <a:r>
              <a:rPr lang="en">
                <a:solidFill>
                  <a:schemeClr val="dk2"/>
                </a:solidFill>
                <a:latin typeface="Lora"/>
                <a:ea typeface="Lora"/>
                <a:cs typeface="Lora"/>
                <a:sym typeface="Lora"/>
              </a:rPr>
              <a:t> article!</a:t>
            </a:r>
            <a:endParaRPr>
              <a:solidFill>
                <a:schemeClr val="dk2"/>
              </a:solidFill>
              <a:latin typeface="Lora"/>
              <a:ea typeface="Lora"/>
              <a:cs typeface="Lora"/>
              <a:sym typeface="Lo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I think data science has the potential to transform all surgery,” says Intuitive’s VP &amp; Scientific Medical Officer, Gretchen Purcell Jackson, MD. Explore what that means. &#10;&#10;Subscribe here:&#10;https://www.youtube.com/channel/UCG53rw1uXxZ0_t9I5z8dktA?sub_confirmation=1 &#10;&#10;Da Vinci robotic surgical systems have been collecting data for almost 30 years. Today, Intuitive holds the largest set of proprietary data for robotic-assisted surgery in the world, made up of trillions of data points collected over millions of procedures. &#10;&#10;Using data science, including machine learning and AI, the company is creating an integrated suite of products that convert raw data into meaningful insights that healthcare professionals can use to improve patient care. &#10;&#10;Related Content:&#10;Learn more about Intuitive’s digital solutions for healthcare at Intuitive Digital Solutions: https://www.intuitive.com/en-us/products-and-services/da-vinci/digital.&#10;&#10;About Intuitive: &#10;Intuitive, headquartered in Sunnyvale, California, is a global leader in minimally invasive care and the pioneer of robotic surgery. Our technologies include the da Vinci surgical system and the Ion endoluminal system. By uniting advanced systems, progressive learning, and value-enhancing services, we help physicians and their teams optimize care delivery to support the best outcomes possible. At Intuitive, we envision a future of care that is less invasive and profoundly better, where diseases are identified early and treated quickly, so patients can get back to what matters most.&#10;&#10;Follow Intuitive: &#10;-LinkedIn: https://www.linkedin.com/company/intuitivesurgical/ &#10;-Facebook: https://www.facebook.com/IntuitiveSurg &#10;-X (formerly Twitter): https://twitter.com/IntuitiveSurg &#10;-Instagram: https://www.instagram.com/intuitivesurgical/ &#10;-Website: https://www.intuitive.com/en-us?utm_source=google&amp;utm_medium=social" id="97" name="Google Shape;97;p19" title="Can AI make surgery safer?">
            <a:hlinkClick r:id="rId3"/>
          </p:cNvPr>
          <p:cNvPicPr preferRelativeResize="0"/>
          <p:nvPr/>
        </p:nvPicPr>
        <p:blipFill>
          <a:blip r:embed="rId4">
            <a:alphaModFix/>
          </a:blip>
          <a:stretch>
            <a:fillRect/>
          </a:stretch>
        </p:blipFill>
        <p:spPr>
          <a:xfrm>
            <a:off x="1159900" y="557900"/>
            <a:ext cx="6824200" cy="3838625"/>
          </a:xfrm>
          <a:prstGeom prst="rect">
            <a:avLst/>
          </a:prstGeom>
          <a:noFill/>
          <a:ln>
            <a:noFill/>
          </a:ln>
        </p:spPr>
      </p:pic>
      <p:sp>
        <p:nvSpPr>
          <p:cNvPr id="98" name="Google Shape;98;p19"/>
          <p:cNvSpPr txBox="1"/>
          <p:nvPr/>
        </p:nvSpPr>
        <p:spPr>
          <a:xfrm>
            <a:off x="1301250" y="4588625"/>
            <a:ext cx="6541500" cy="37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Lora"/>
                <a:ea typeface="Lora"/>
                <a:cs typeface="Lora"/>
                <a:sym typeface="Lora"/>
              </a:rPr>
              <a:t>Can AI make surgery safer? </a:t>
            </a:r>
            <a:endParaRPr sz="1800">
              <a:solidFill>
                <a:schemeClr val="dk2"/>
              </a:solidFill>
              <a:latin typeface="Lora"/>
              <a:ea typeface="Lora"/>
              <a:cs typeface="Lora"/>
              <a:sym typeface="L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ctrTitle"/>
          </p:nvPr>
        </p:nvSpPr>
        <p:spPr>
          <a:xfrm>
            <a:off x="311700" y="1963775"/>
            <a:ext cx="50289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Lora"/>
                <a:ea typeface="Lora"/>
                <a:cs typeface="Lora"/>
                <a:sym typeface="Lora"/>
              </a:rPr>
              <a:t>John Snow and the Broad Street Pump</a:t>
            </a:r>
            <a:endParaRPr>
              <a:latin typeface="Lora"/>
              <a:ea typeface="Lora"/>
              <a:cs typeface="Lora"/>
              <a:sym typeface="Lora"/>
            </a:endParaRPr>
          </a:p>
        </p:txBody>
      </p:sp>
      <p:sp>
        <p:nvSpPr>
          <p:cNvPr id="104" name="Google Shape;104;p20"/>
          <p:cNvSpPr txBox="1"/>
          <p:nvPr>
            <p:ph idx="1" type="subTitle"/>
          </p:nvPr>
        </p:nvSpPr>
        <p:spPr>
          <a:xfrm>
            <a:off x="311700" y="8148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500">
                <a:latin typeface="Bebas Neue"/>
                <a:ea typeface="Bebas Neue"/>
                <a:cs typeface="Bebas Neue"/>
                <a:sym typeface="Bebas Neue"/>
              </a:rPr>
              <a:t>Public Health</a:t>
            </a:r>
            <a:endParaRPr sz="3500">
              <a:latin typeface="Bebas Neue"/>
              <a:ea typeface="Bebas Neue"/>
              <a:cs typeface="Bebas Neue"/>
              <a:sym typeface="Bebas Neue"/>
            </a:endParaRPr>
          </a:p>
        </p:txBody>
      </p:sp>
      <p:pic>
        <p:nvPicPr>
          <p:cNvPr id="105" name="Google Shape;105;p20"/>
          <p:cNvPicPr preferRelativeResize="0"/>
          <p:nvPr/>
        </p:nvPicPr>
        <p:blipFill>
          <a:blip r:embed="rId3">
            <a:alphaModFix/>
          </a:blip>
          <a:stretch>
            <a:fillRect/>
          </a:stretch>
        </p:blipFill>
        <p:spPr>
          <a:xfrm>
            <a:off x="5563550" y="1822775"/>
            <a:ext cx="3380350" cy="3078799"/>
          </a:xfrm>
          <a:prstGeom prst="rect">
            <a:avLst/>
          </a:prstGeom>
          <a:noFill/>
          <a:ln>
            <a:noFill/>
          </a:ln>
        </p:spPr>
      </p:pic>
      <p:pic>
        <p:nvPicPr>
          <p:cNvPr id="106" name="Google Shape;106;p20"/>
          <p:cNvPicPr preferRelativeResize="0"/>
          <p:nvPr/>
        </p:nvPicPr>
        <p:blipFill>
          <a:blip r:embed="rId4">
            <a:alphaModFix/>
          </a:blip>
          <a:stretch>
            <a:fillRect/>
          </a:stretch>
        </p:blipFill>
        <p:spPr>
          <a:xfrm>
            <a:off x="6979900" y="342900"/>
            <a:ext cx="1638351" cy="240697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descr="In mid-19th century London, John Snow, a bold physician, challenged the idea that Cholera was caused by bad air, proving instead that contaminated water was to blame. His investigations led to groundbreaking discoveries, laying the foundation for modern epidemiology. A public health classic retold with a modern twist…&#10;&#10;#publichealth   #medicalhistory #epidemiology #gis #cholera #investigations &#10;&#10;References:&#10;1. Snow SJ. John Snow: the making of a hero? Lancet. 2008 Jul 5;372(9632):22-3. &#10;2. Tulchinsky TH. John Snow, Cholera, the Broad Street Pump; Waterborne Diseases Then and Now. Case Studies in Public Health. 2018;77-99. &#10;&#10;&#10;Created by: Dr Ranil Appuhamy&#10;Narrated by: James Clark&#10;Creative Assistance: Neha&#10;&#10;&#10;Disclaimer: These videos are provided for educational purposes only. Users should not rely solely on the information contained within these videos and is not intended to be a substitute for advice from other relevant sources. The author/s do not warrant or represent that the information contained in the videos are accurate, current, or complete and do not accept any legal liability or responsibility for any loss, damages, costs or expenses incurred by the use of, or reliance on, or interpretation of, the information contained in the videos." id="111" name="Google Shape;111;p21" title="[Ep1 ] The Battle with Cholera - John Snow [Public Health Influencers]">
            <a:hlinkClick r:id="rId3"/>
          </p:cNvPr>
          <p:cNvPicPr preferRelativeResize="0"/>
          <p:nvPr/>
        </p:nvPicPr>
        <p:blipFill>
          <a:blip r:embed="rId4">
            <a:alphaModFix/>
          </a:blip>
          <a:stretch>
            <a:fillRect/>
          </a:stretch>
        </p:blipFill>
        <p:spPr>
          <a:xfrm>
            <a:off x="744538" y="177549"/>
            <a:ext cx="7654925" cy="4305875"/>
          </a:xfrm>
          <a:prstGeom prst="rect">
            <a:avLst/>
          </a:prstGeom>
          <a:noFill/>
          <a:ln>
            <a:noFill/>
          </a:ln>
        </p:spPr>
      </p:pic>
      <p:sp>
        <p:nvSpPr>
          <p:cNvPr id="112" name="Google Shape;112;p21"/>
          <p:cNvSpPr txBox="1"/>
          <p:nvPr/>
        </p:nvSpPr>
        <p:spPr>
          <a:xfrm>
            <a:off x="0" y="4577725"/>
            <a:ext cx="9144000" cy="56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Lora"/>
                <a:ea typeface="Lora"/>
                <a:cs typeface="Lora"/>
                <a:sym typeface="Lora"/>
              </a:rPr>
              <a:t>More info: </a:t>
            </a:r>
            <a:r>
              <a:rPr lang="en" sz="1200" u="sng">
                <a:solidFill>
                  <a:schemeClr val="hlink"/>
                </a:solidFill>
                <a:latin typeface="Lora"/>
                <a:ea typeface="Lora"/>
                <a:cs typeface="Lora"/>
                <a:sym typeface="Lora"/>
                <a:hlinkClick r:id="rId5"/>
              </a:rPr>
              <a:t>https://inferentialthinking.com/chapters/02/1/observation-and-visualization-john-snow-and-the-broad-street-pump.html</a:t>
            </a:r>
            <a:endParaRPr sz="1200">
              <a:solidFill>
                <a:schemeClr val="dk2"/>
              </a:solidFill>
              <a:latin typeface="Lora"/>
              <a:ea typeface="Lora"/>
              <a:cs typeface="Lora"/>
              <a:sym typeface="Lora"/>
            </a:endParaRPr>
          </a:p>
          <a:p>
            <a:pPr indent="0" lvl="0" marL="0" rtl="0" algn="l">
              <a:spcBef>
                <a:spcPts val="0"/>
              </a:spcBef>
              <a:spcAft>
                <a:spcPts val="0"/>
              </a:spcAft>
              <a:buNone/>
            </a:pPr>
            <a:r>
              <a:t/>
            </a:r>
            <a:endParaRPr sz="1200">
              <a:solidFill>
                <a:schemeClr val="dk2"/>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ctrTitle"/>
          </p:nvPr>
        </p:nvSpPr>
        <p:spPr>
          <a:xfrm>
            <a:off x="311704" y="1277975"/>
            <a:ext cx="4300200" cy="20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Science in the Real World</a:t>
            </a:r>
            <a:endParaRPr/>
          </a:p>
        </p:txBody>
      </p:sp>
      <p:sp>
        <p:nvSpPr>
          <p:cNvPr id="118" name="Google Shape;118;p22"/>
          <p:cNvSpPr txBox="1"/>
          <p:nvPr>
            <p:ph idx="1" type="subTitle"/>
          </p:nvPr>
        </p:nvSpPr>
        <p:spPr>
          <a:xfrm>
            <a:off x="311700" y="758650"/>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Choose your own adventure</a:t>
            </a:r>
            <a:endParaRPr/>
          </a:p>
        </p:txBody>
      </p:sp>
      <p:pic>
        <p:nvPicPr>
          <p:cNvPr id="119" name="Google Shape;119;p22"/>
          <p:cNvPicPr preferRelativeResize="0"/>
          <p:nvPr/>
        </p:nvPicPr>
        <p:blipFill>
          <a:blip r:embed="rId3">
            <a:alphaModFix/>
          </a:blip>
          <a:stretch>
            <a:fillRect/>
          </a:stretch>
        </p:blipFill>
        <p:spPr>
          <a:xfrm>
            <a:off x="4498650" y="758650"/>
            <a:ext cx="6354125" cy="6354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3"/>
              </a:rPr>
              <a:t>https://cdss.berkeley.edu/discovery/projects</a:t>
            </a:r>
            <a:endParaRPr/>
          </a:p>
          <a:p>
            <a:pPr indent="0" lvl="0" marL="0" rtl="0" algn="l">
              <a:spcBef>
                <a:spcPts val="0"/>
              </a:spcBef>
              <a:spcAft>
                <a:spcPts val="0"/>
              </a:spcAft>
              <a:buNone/>
            </a:pPr>
            <a:r>
              <a:t/>
            </a:r>
            <a:endParaRPr/>
          </a:p>
        </p:txBody>
      </p:sp>
      <p:sp>
        <p:nvSpPr>
          <p:cNvPr id="125" name="Google Shape;125;p23"/>
          <p:cNvSpPr txBox="1"/>
          <p:nvPr>
            <p:ph idx="1" type="body"/>
          </p:nvPr>
        </p:nvSpPr>
        <p:spPr>
          <a:xfrm>
            <a:off x="311700" y="1152475"/>
            <a:ext cx="3323100" cy="34164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SzPts val="2300"/>
              <a:buChar char="●"/>
            </a:pPr>
            <a:r>
              <a:rPr lang="en" sz="2300"/>
              <a:t>Choose an interesting topic</a:t>
            </a:r>
            <a:endParaRPr sz="2300"/>
          </a:p>
          <a:p>
            <a:pPr indent="-374650" lvl="0" marL="457200" rtl="0" algn="l">
              <a:spcBef>
                <a:spcPts val="0"/>
              </a:spcBef>
              <a:spcAft>
                <a:spcPts val="0"/>
              </a:spcAft>
              <a:buSzPts val="2300"/>
              <a:buChar char="●"/>
            </a:pPr>
            <a:r>
              <a:rPr lang="en" sz="2300"/>
              <a:t>Pick a project or two and read about it for 10-15 minutes</a:t>
            </a:r>
            <a:endParaRPr sz="2300"/>
          </a:p>
          <a:p>
            <a:pPr indent="-374650" lvl="0" marL="457200" rtl="0" algn="l">
              <a:spcBef>
                <a:spcPts val="0"/>
              </a:spcBef>
              <a:spcAft>
                <a:spcPts val="0"/>
              </a:spcAft>
              <a:buSzPts val="2300"/>
              <a:buChar char="●"/>
            </a:pPr>
            <a:r>
              <a:rPr lang="en" sz="2300"/>
              <a:t>Summarize and discuss with your group</a:t>
            </a:r>
            <a:endParaRPr sz="2300"/>
          </a:p>
        </p:txBody>
      </p:sp>
      <p:pic>
        <p:nvPicPr>
          <p:cNvPr id="126" name="Google Shape;126;p23" title="Screenshot 2025-06-12 at 14.36.25.png"/>
          <p:cNvPicPr preferRelativeResize="0"/>
          <p:nvPr/>
        </p:nvPicPr>
        <p:blipFill rotWithShape="1">
          <a:blip r:embed="rId4">
            <a:alphaModFix/>
          </a:blip>
          <a:srcRect b="0" l="0" r="6872" t="0"/>
          <a:stretch/>
        </p:blipFill>
        <p:spPr>
          <a:xfrm>
            <a:off x="3782574" y="1291913"/>
            <a:ext cx="5049723" cy="31375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351C75"/>
      </a:dk2>
      <a:lt2>
        <a:srgbClr val="D9D2E9"/>
      </a:lt2>
      <a:accent1>
        <a:srgbClr val="4285F4"/>
      </a:accent1>
      <a:accent2>
        <a:srgbClr val="212121"/>
      </a:accent2>
      <a:accent3>
        <a:srgbClr val="78909C"/>
      </a:accent3>
      <a:accent4>
        <a:srgbClr val="FFAB40"/>
      </a:accent4>
      <a:accent5>
        <a:srgbClr val="0097A7"/>
      </a:accent5>
      <a:accent6>
        <a:srgbClr val="EEFF41"/>
      </a:accent6>
      <a:hlink>
        <a:srgbClr val="351C7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